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3"/>
  </p:notesMasterIdLst>
  <p:sldIdLst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30076C-C2A2-4968-BF06-C09E4648123D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A73F98-E6C2-425C-803B-72B9D418C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552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17ECFA-4B23-45E7-9840-2D549A00BCB7}" type="slidenum">
              <a:rPr lang="en-IN" smtClean="0">
                <a:solidFill>
                  <a:prstClr val="black"/>
                </a:solidFill>
              </a:rPr>
              <a:pPr/>
              <a:t>1</a:t>
            </a:fld>
            <a:endParaRPr 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58604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A73F98-E6C2-425C-803B-72B9D418CFF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8511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6BA16-CA37-43C7-8978-3E81182495B9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t>06-01-2026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>
                <a:solidFill>
                  <a:prstClr val="black">
                    <a:tint val="75000"/>
                  </a:prstClr>
                </a:solidFill>
              </a:rPr>
              <a:t>GR20D5144 – MINI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C9E62-C7AE-451B-B578-5F9B605DF0C4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4768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FB631-186F-4A21-871B-B4979508A3D7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t>06-01-2026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>
                <a:solidFill>
                  <a:prstClr val="black">
                    <a:tint val="75000"/>
                  </a:prstClr>
                </a:solidFill>
              </a:rPr>
              <a:t>GR20D5144 – MINI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C9E62-C7AE-451B-B578-5F9B605DF0C4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3869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F2ED-E895-4E6F-8898-5F5282E5F466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t>06-01-2026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>
                <a:solidFill>
                  <a:prstClr val="black">
                    <a:tint val="75000"/>
                  </a:prstClr>
                </a:solidFill>
              </a:rPr>
              <a:t>GR20D5144 – MINI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C9E62-C7AE-451B-B578-5F9B605DF0C4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2989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D194C-B150-4ECD-9EDD-CEAB2F4EA0A9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t>06-01-2026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>
                <a:solidFill>
                  <a:prstClr val="black">
                    <a:tint val="75000"/>
                  </a:prstClr>
                </a:solidFill>
              </a:rPr>
              <a:t>GR20D5144 – MINI PROJECT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C9E62-C7AE-451B-B578-5F9B605DF0C4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0178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4CE3B-344A-4116-9EFE-871A1CFA9C26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t>06-01-2026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>
                <a:solidFill>
                  <a:prstClr val="black">
                    <a:tint val="75000"/>
                  </a:prstClr>
                </a:solidFill>
              </a:rPr>
              <a:t>GR20D5144 – MINI PROJECT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C9E62-C7AE-451B-B578-5F9B605DF0C4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5613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867EE-F7CE-4997-A3DE-871C1C810E66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t>06-01-2026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>
                <a:solidFill>
                  <a:prstClr val="black">
                    <a:tint val="75000"/>
                  </a:prstClr>
                </a:solidFill>
              </a:rPr>
              <a:t>GR20D5144 – MINI PROJECT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C9E62-C7AE-451B-B578-5F9B605DF0C4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7357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2757C-3B6B-462B-814A-4172B0AC523A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t>06-01-2026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>
                <a:solidFill>
                  <a:prstClr val="black">
                    <a:tint val="75000"/>
                  </a:prstClr>
                </a:solidFill>
              </a:rPr>
              <a:t>GR20D5144 – MINI PROJECT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C9E62-C7AE-451B-B578-5F9B605DF0C4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8368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8B30E-E74A-4833-ABEE-11A632B8787F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t>06-01-2026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>
                <a:solidFill>
                  <a:prstClr val="black">
                    <a:tint val="75000"/>
                  </a:prstClr>
                </a:solidFill>
              </a:rPr>
              <a:t>GR20D5144 – MINI PROJECT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C9E62-C7AE-451B-B578-5F9B605DF0C4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290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B6306-BF79-40D9-BA99-79B07571DBA8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t>06-01-2026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>
                <a:solidFill>
                  <a:prstClr val="black">
                    <a:tint val="75000"/>
                  </a:prstClr>
                </a:solidFill>
              </a:rPr>
              <a:t>GR20D5144 – MINI PROJECT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C9E62-C7AE-451B-B578-5F9B605DF0C4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4301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AB7BA-E9C2-434D-932E-E2FC4F1EE482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t>06-01-2026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>
                <a:solidFill>
                  <a:prstClr val="black">
                    <a:tint val="75000"/>
                  </a:prstClr>
                </a:solidFill>
              </a:rPr>
              <a:t>GR20D5144 – MINI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C9E62-C7AE-451B-B578-5F9B605DF0C4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7200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154DF-0643-4733-9ACC-025A0C329C66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t>06-01-2026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>
                <a:solidFill>
                  <a:prstClr val="black">
                    <a:tint val="75000"/>
                  </a:prstClr>
                </a:solidFill>
              </a:rPr>
              <a:t>GR20D5144 – MINI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C9E62-C7AE-451B-B578-5F9B605DF0C4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51150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177AD-EC20-4299-80DC-853FC8112B9E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t>06-01-2026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>
                <a:solidFill>
                  <a:prstClr val="black">
                    <a:tint val="75000"/>
                  </a:prstClr>
                </a:solidFill>
              </a:rPr>
              <a:t>GR20D5144 – MINI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C9E62-C7AE-451B-B578-5F9B605DF0C4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24628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F412A-B840-4C64-8766-82336289A78C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t>06-01-2026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>
                <a:solidFill>
                  <a:prstClr val="black">
                    <a:tint val="75000"/>
                  </a:prstClr>
                </a:solidFill>
              </a:rPr>
              <a:t>GR20D5144 – MINI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C9E62-C7AE-451B-B578-5F9B605DF0C4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64003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567CC-7C8C-4E67-A8B5-21D70BE15B45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t>06-01-2026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>
                <a:solidFill>
                  <a:prstClr val="black">
                    <a:tint val="75000"/>
                  </a:prstClr>
                </a:solidFill>
              </a:rPr>
              <a:t>GR20D5144 – MINI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C9E62-C7AE-451B-B578-5F9B605DF0C4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66421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7A19E-2DE6-4C36-BB9F-362FB5F40B8A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t>06-01-2026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>
                <a:solidFill>
                  <a:prstClr val="black">
                    <a:tint val="75000"/>
                  </a:prstClr>
                </a:solidFill>
              </a:rPr>
              <a:t>GR20D5144 – MINI PROJECT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C9E62-C7AE-451B-B578-5F9B605DF0C4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72279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34CB6-95EF-4EC1-9F9F-19651F81BC12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t>06-01-2026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>
                <a:solidFill>
                  <a:prstClr val="black">
                    <a:tint val="75000"/>
                  </a:prstClr>
                </a:solidFill>
              </a:rPr>
              <a:t>GR20D5144 – MINI PROJECT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C9E62-C7AE-451B-B578-5F9B605DF0C4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66207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33453-FE48-404E-AFE6-1461A90C1152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t>06-01-2026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>
                <a:solidFill>
                  <a:prstClr val="black">
                    <a:tint val="75000"/>
                  </a:prstClr>
                </a:solidFill>
              </a:rPr>
              <a:t>GR20D5144 – MINI PROJECT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C9E62-C7AE-451B-B578-5F9B605DF0C4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57122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40B96-B916-4437-8DC4-0E21AA5A2417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t>06-01-2026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>
                <a:solidFill>
                  <a:prstClr val="black">
                    <a:tint val="75000"/>
                  </a:prstClr>
                </a:solidFill>
              </a:rPr>
              <a:t>GR20D5144 – MINI PROJECT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C9E62-C7AE-451B-B578-5F9B605DF0C4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30206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BF7EB-0FA9-4142-A591-73B6A9ADE282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t>06-01-2026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>
                <a:solidFill>
                  <a:prstClr val="black">
                    <a:tint val="75000"/>
                  </a:prstClr>
                </a:solidFill>
              </a:rPr>
              <a:t>GR20D5144 – MINI PROJECT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C9E62-C7AE-451B-B578-5F9B605DF0C4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71748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250E3-FE50-471F-83FF-F78154D4F97E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t>06-01-2026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>
                <a:solidFill>
                  <a:prstClr val="black">
                    <a:tint val="75000"/>
                  </a:prstClr>
                </a:solidFill>
              </a:rPr>
              <a:t>GR20D5144 – MINI PROJECT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C9E62-C7AE-451B-B578-5F9B605DF0C4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52146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E06CE-BF7D-430D-A174-A6DC68E664E9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t>06-01-2026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>
                <a:solidFill>
                  <a:prstClr val="black">
                    <a:tint val="75000"/>
                  </a:prstClr>
                </a:solidFill>
              </a:rPr>
              <a:t>GR20D5144 – MINI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C9E62-C7AE-451B-B578-5F9B605DF0C4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19346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B2732-D17C-4AE8-B8E5-B5C1AD9EEE51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t>06-01-2026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>
                <a:solidFill>
                  <a:prstClr val="black">
                    <a:tint val="75000"/>
                  </a:prstClr>
                </a:solidFill>
              </a:rPr>
              <a:t>GR20D5144 – MINI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C9E62-C7AE-451B-B578-5F9B605DF0C4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6600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E9EFCB-6DE6-40ED-813B-23F55060FFEB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t>06-01-2026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>
                <a:solidFill>
                  <a:prstClr val="black">
                    <a:tint val="75000"/>
                  </a:prstClr>
                </a:solidFill>
              </a:rPr>
              <a:t>GR20D5144 – MINI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1C9E62-C7AE-451B-B578-5F9B605DF0C4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282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899C9F-7348-4A5C-B6F8-C9A925EB4326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t>06-01-2026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>
                <a:solidFill>
                  <a:prstClr val="black">
                    <a:tint val="75000"/>
                  </a:prstClr>
                </a:solidFill>
              </a:rPr>
              <a:t>GR20D5144 – MINI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1C9E62-C7AE-451B-B578-5F9B605DF0C4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8053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54;p13"/>
          <p:cNvSpPr txBox="1">
            <a:spLocks/>
          </p:cNvSpPr>
          <p:nvPr/>
        </p:nvSpPr>
        <p:spPr>
          <a:xfrm>
            <a:off x="1004552" y="249377"/>
            <a:ext cx="10349248" cy="610697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/>
          <a:p>
            <a:pPr algn="ctr">
              <a:defRPr/>
            </a:pPr>
            <a:endParaRPr lang="en-US" sz="16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defRPr/>
            </a:pPr>
            <a:endParaRPr lang="en-US" sz="16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defRPr/>
            </a:pPr>
            <a:endParaRPr lang="en-US" sz="16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defRPr/>
            </a:pPr>
            <a:endParaRPr lang="en-US" sz="16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defRPr/>
            </a:pPr>
            <a:endParaRPr lang="en-US" sz="16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buClr>
                <a:prstClr val="black"/>
              </a:buClr>
              <a:buSzPts val="1100"/>
              <a:defRPr/>
            </a:pPr>
            <a:endParaRPr lang="en-US" sz="16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defRPr/>
            </a:pPr>
            <a:endParaRPr lang="en-US" sz="4400" dirty="0">
              <a:solidFill>
                <a:prstClr val="black"/>
              </a:solidFill>
              <a:latin typeface="Calibri Light"/>
              <a:ea typeface="+mj-ea"/>
              <a:cs typeface="+mj-cs"/>
            </a:endParaRPr>
          </a:p>
        </p:txBody>
      </p:sp>
      <p:pic>
        <p:nvPicPr>
          <p:cNvPr id="1026" name="Picture 2" descr="Gokaraju Rangaraju Institute of Engineering and Technology [GRIET ...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38220" y="419324"/>
            <a:ext cx="1003860" cy="835887"/>
          </a:xfrm>
          <a:prstGeom prst="rect">
            <a:avLst/>
          </a:prstGeom>
          <a:noFill/>
        </p:spPr>
      </p:pic>
      <p:sp>
        <p:nvSpPr>
          <p:cNvPr id="2" name="Rectangle 1"/>
          <p:cNvSpPr/>
          <p:nvPr/>
        </p:nvSpPr>
        <p:spPr>
          <a:xfrm>
            <a:off x="1524000" y="1255211"/>
            <a:ext cx="8832300" cy="8156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5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Gokaraju Rangaraju Institute of Engineering and Technology </a:t>
            </a:r>
          </a:p>
          <a:p>
            <a:pPr algn="ctr">
              <a:buClr>
                <a:prstClr val="black"/>
              </a:buClr>
              <a:buSzPts val="1100"/>
              <a:defRPr/>
            </a:pPr>
            <a:r>
              <a:rPr lang="en-US" sz="2200" b="1" dirty="0">
                <a:solidFill>
                  <a:prstClr val="blac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678806" y="2235791"/>
            <a:ext cx="6465193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b="1" dirty="0">
                <a:solidFill>
                  <a:prstClr val="blac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Academic year 2025-2026</a:t>
            </a:r>
          </a:p>
          <a:p>
            <a:pPr algn="ctr">
              <a:defRPr/>
            </a:pPr>
            <a:r>
              <a:rPr lang="en-US" sz="2000" b="1" dirty="0">
                <a:solidFill>
                  <a:prstClr val="blac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M. Tech II Year / I semester , </a:t>
            </a:r>
          </a:p>
          <a:p>
            <a:pPr algn="ctr">
              <a:defRPr/>
            </a:pPr>
            <a:r>
              <a:rPr lang="en-IN" sz="2000" b="1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GR24D5049 – </a:t>
            </a:r>
            <a:r>
              <a:rPr lang="en-US" sz="2000" b="1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Dissertation Phase-I</a:t>
            </a:r>
            <a:endParaRPr lang="en-US" sz="2000" b="1" dirty="0">
              <a:solidFill>
                <a:prstClr val="black"/>
              </a:solidFill>
              <a:latin typeface="Times New Roman"/>
              <a:ea typeface="Calibri" panose="020F0502020204030204" pitchFamily="34" charset="0"/>
              <a:cs typeface="Times New Roman"/>
              <a:sym typeface="Times New Roman"/>
            </a:endParaRPr>
          </a:p>
          <a:p>
            <a:pPr algn="ctr">
              <a:defRPr/>
            </a:pPr>
            <a:r>
              <a:rPr lang="en-US" sz="2000" b="1" dirty="0">
                <a:solidFill>
                  <a:prstClr val="blac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Review-1</a:t>
            </a:r>
          </a:p>
        </p:txBody>
      </p:sp>
      <p:sp>
        <p:nvSpPr>
          <p:cNvPr id="7" name="Title 3"/>
          <p:cNvSpPr>
            <a:spLocks noGrp="1"/>
          </p:cNvSpPr>
          <p:nvPr>
            <p:ph type="ctrTitle"/>
          </p:nvPr>
        </p:nvSpPr>
        <p:spPr>
          <a:xfrm>
            <a:off x="1828800" y="3645947"/>
            <a:ext cx="8610600" cy="81560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itchFamily="18" charset="0"/>
              </a:rPr>
              <a:t>Detecting AI-Generated and Template-Based Resumes Using Weakly Supervised Hybrid Learning</a:t>
            </a:r>
            <a:endParaRPr lang="en-US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ubtitle 4"/>
          <p:cNvSpPr>
            <a:spLocks noGrp="1"/>
          </p:cNvSpPr>
          <p:nvPr>
            <p:ph type="subTitle" idx="1"/>
          </p:nvPr>
        </p:nvSpPr>
        <p:spPr>
          <a:xfrm>
            <a:off x="1939650" y="4895848"/>
            <a:ext cx="4757364" cy="999386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Batch no: 3</a:t>
            </a:r>
          </a:p>
          <a:p>
            <a:pPr algn="l">
              <a:spcBef>
                <a:spcPts val="0"/>
              </a:spcBef>
            </a:pPr>
            <a:r>
              <a:rPr lang="en-US" sz="2200" b="1" dirty="0" err="1">
                <a:latin typeface="Times New Roman" pitchFamily="18" charset="0"/>
                <a:cs typeface="Times New Roman" pitchFamily="18" charset="0"/>
              </a:rPr>
              <a:t>Name:G.Manaswini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  <a:p>
            <a:pPr algn="l">
              <a:spcBef>
                <a:spcPts val="0"/>
              </a:spcBef>
            </a:pPr>
            <a:r>
              <a:rPr lang="en-US" sz="2200" b="1" dirty="0" err="1">
                <a:latin typeface="Times New Roman" pitchFamily="18" charset="0"/>
                <a:cs typeface="Times New Roman" pitchFamily="18" charset="0"/>
              </a:rPr>
              <a:t>Reg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No:24241D5803</a:t>
            </a:r>
          </a:p>
        </p:txBody>
      </p:sp>
      <p:sp>
        <p:nvSpPr>
          <p:cNvPr id="9" name="Subtitle 4"/>
          <p:cNvSpPr txBox="1">
            <a:spLocks/>
          </p:cNvSpPr>
          <p:nvPr/>
        </p:nvSpPr>
        <p:spPr>
          <a:xfrm>
            <a:off x="7225593" y="4895848"/>
            <a:ext cx="4556832" cy="137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r>
              <a:rPr lang="en-US" sz="2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itchFamily="18" charset="0"/>
              </a:rPr>
              <a:t>Guide: 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Dr. Y Krishna </a:t>
            </a: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Bhargavi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,</a:t>
            </a:r>
            <a:endParaRPr lang="en-US" sz="2200" b="1" dirty="0">
              <a:solidFill>
                <a:prstClr val="black"/>
              </a:solidFill>
              <a:latin typeface="Times New Roman" panose="02020603050405020304" pitchFamily="18" charset="0"/>
              <a:cs typeface="Times New Roman" pitchFamily="18" charset="0"/>
            </a:endParaRPr>
          </a:p>
          <a:p>
            <a:pPr algn="l">
              <a:spcBef>
                <a:spcPts val="0"/>
              </a:spcBef>
            </a:pPr>
            <a:r>
              <a:rPr lang="en-US" sz="2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itchFamily="18" charset="0"/>
              </a:rPr>
              <a:t>       </a:t>
            </a:r>
            <a:endParaRPr lang="en-US" sz="2200" b="1" dirty="0">
              <a:solidFill>
                <a:prstClr val="black">
                  <a:tint val="7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0"/>
              </a:spcBef>
            </a:pPr>
            <a:endParaRPr lang="en-US" sz="2200" b="1" dirty="0">
              <a:solidFill>
                <a:prstClr val="black">
                  <a:tint val="7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solidFill>
                  <a:prstClr val="black">
                    <a:tint val="75000"/>
                  </a:prstClr>
                </a:solidFill>
              </a:rPr>
              <a:t>GR24D5049 – DISSERTATION PHASE-I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C9E62-C7AE-451B-B578-5F9B605DF0C4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89673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8253" y="315695"/>
            <a:ext cx="8703608" cy="804768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en-IN" sz="3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6823" y="1220506"/>
            <a:ext cx="10972800" cy="483256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of the project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the Implementation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solidFill>
                  <a:prstClr val="black">
                    <a:tint val="75000"/>
                  </a:prstClr>
                </a:solidFill>
              </a:rPr>
              <a:t>GR24D5049 – DISSERTATION PHASE-I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C9E62-C7AE-451B-B578-5F9B605DF0C4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516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"/>
            <a:ext cx="9144000" cy="1021976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IN" sz="36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8641" y="1118226"/>
            <a:ext cx="10734607" cy="5334376"/>
          </a:xfrm>
        </p:spPr>
        <p:txBody>
          <a:bodyPr>
            <a:normAutofit/>
          </a:bodyPr>
          <a:lstStyle/>
          <a:p>
            <a:pPr algn="just">
              <a:lnSpc>
                <a:spcPct val="110000"/>
              </a:lnSpc>
            </a:pPr>
            <a:r>
              <a:rPr lang="en-US" sz="24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design an automated system capable of detecting AI-generated resumes using linguistic, semantic, and stylometric features.</a:t>
            </a:r>
            <a:endParaRPr lang="en-US" sz="2400" dirty="0">
              <a:solidFill>
                <a:srgbClr val="0D0D0D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</a:pPr>
            <a:r>
              <a:rPr lang="en-US" sz="24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identify template-based resumes through similarity analysis and structural pattern recognition</a:t>
            </a:r>
          </a:p>
          <a:p>
            <a:pPr algn="just">
              <a:lnSpc>
                <a:spcPct val="11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address the lack of ground-truth labeled data by employing weakly supervised learning with confidence-weighted labels.</a:t>
            </a:r>
          </a:p>
          <a:p>
            <a:pPr algn="just">
              <a:lnSpc>
                <a:spcPct val="11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explainable classification framework that provides interpretable outputs for HR decision support.</a:t>
            </a:r>
          </a:p>
          <a:p>
            <a:pPr algn="just">
              <a:lnSpc>
                <a:spcPct val="11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combine semantic embeddings, stylometric features, and structural attributes for robust resume classification.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solidFill>
                  <a:prstClr val="black">
                    <a:tint val="75000"/>
                  </a:prstClr>
                </a:solidFill>
              </a:rPr>
              <a:t>GR24D5049 – DISSERTATION PHASE-I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C9E62-C7AE-451B-B578-5F9B605DF0C4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1991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31373-B16D-4C56-9DD7-5B82184AA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5434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b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CAC9F5-E4C6-4EAE-A5CD-471E09983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solidFill>
                  <a:prstClr val="black">
                    <a:tint val="75000"/>
                  </a:prstClr>
                </a:solidFill>
              </a:rPr>
              <a:t>GR24D5049 – DISSERTATION PHASE-I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F60C42-9753-4819-B013-0B1885E02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C9E62-C7AE-451B-B578-5F9B605DF0C4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AB0FD3C-A703-2BDB-CD52-D1AB81C0E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1559"/>
            <a:ext cx="10747342" cy="4351338"/>
          </a:xfrm>
        </p:spPr>
        <p:txBody>
          <a:bodyPr>
            <a:no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increasing use of AI-based text generation tools and online resume templates has made it difficult for recruiters to distinguish genuine resumes from AI-generated or template-based ones. Traditional Applicant Tracking Systems mainly rely on keyword matching and fail to capture writing style patterns, semantic similarity, and structural reuse. 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proposes a weakly supervised and explainable framework to detect AI-generated and template-based resumes. By combining stylometric analysis, semantic embeddings, and similarity-based clustering, the system generates confidence-weighted labels without requiring fully annotated data. 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hybrid model integrating transformer-based semantic modeling and classical machine learning is used for classification. The proposed approach provides accurate detection along with explainable outputs, making it suitable for real-world recruitment systems.</a:t>
            </a:r>
          </a:p>
        </p:txBody>
      </p:sp>
    </p:spTree>
    <p:extLst>
      <p:ext uri="{BB962C8B-B14F-4D97-AF65-F5344CB8AC3E}">
        <p14:creationId xmlns:p14="http://schemas.microsoft.com/office/powerpoint/2010/main" val="3243155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31373-B16D-4C56-9DD7-5B82184AA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434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Scope of the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6F02F-5FBE-4962-95AA-57E8E4576A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360" y="695592"/>
            <a:ext cx="11077280" cy="4988771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CAC9F5-E4C6-4EAE-A5CD-471E09983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solidFill>
                  <a:prstClr val="black">
                    <a:tint val="75000"/>
                  </a:prstClr>
                </a:solidFill>
              </a:rPr>
              <a:t>GR24D5049 – DISSERTATION PHASE-I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F60C42-9753-4819-B013-0B1885E02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C9E62-C7AE-451B-B578-5F9B605DF0C4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BED9FE-D9A0-A738-9D8D-656B360DE117}"/>
              </a:ext>
            </a:extLst>
          </p:cNvPr>
          <p:cNvSpPr txBox="1"/>
          <p:nvPr/>
        </p:nvSpPr>
        <p:spPr>
          <a:xfrm>
            <a:off x="1643512" y="1360186"/>
            <a:ext cx="8751772" cy="4191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resume input in PDF, DOCX, and TXT formats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text extraction, preprocessing, and section segmentation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Extracts stylometric, semantic, and structural features from resumes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AI-generated resumes using linguistic and semantic patterns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template-based resumes through similarity and structure analysis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Applies weakly supervised learning to handle unlabeled and noisy data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Classifies resumes into Human-written, AI-generated, and Template-based categories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confidence scores and explainable outputs for HR decision support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9804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1EA4F-9741-6395-4C81-B4A72E01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136523"/>
            <a:ext cx="10515600" cy="444498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</a:t>
            </a:r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Survey</a:t>
            </a:r>
            <a:endParaRPr lang="en-US" sz="3600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D8FB91B4-9C87-34FE-93DE-429359A0E8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0280396"/>
              </p:ext>
            </p:extLst>
          </p:nvPr>
        </p:nvGraphicFramePr>
        <p:xfrm>
          <a:off x="238827" y="724701"/>
          <a:ext cx="11773503" cy="5659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4032">
                  <a:extLst>
                    <a:ext uri="{9D8B030D-6E8A-4147-A177-3AD203B41FA5}">
                      <a16:colId xmlns:a16="http://schemas.microsoft.com/office/drawing/2014/main" val="1803696417"/>
                    </a:ext>
                  </a:extLst>
                </a:gridCol>
                <a:gridCol w="2539020">
                  <a:extLst>
                    <a:ext uri="{9D8B030D-6E8A-4147-A177-3AD203B41FA5}">
                      <a16:colId xmlns:a16="http://schemas.microsoft.com/office/drawing/2014/main" val="1339363275"/>
                    </a:ext>
                  </a:extLst>
                </a:gridCol>
                <a:gridCol w="1717166">
                  <a:extLst>
                    <a:ext uri="{9D8B030D-6E8A-4147-A177-3AD203B41FA5}">
                      <a16:colId xmlns:a16="http://schemas.microsoft.com/office/drawing/2014/main" val="1780147735"/>
                    </a:ext>
                  </a:extLst>
                </a:gridCol>
                <a:gridCol w="2437034">
                  <a:extLst>
                    <a:ext uri="{9D8B030D-6E8A-4147-A177-3AD203B41FA5}">
                      <a16:colId xmlns:a16="http://schemas.microsoft.com/office/drawing/2014/main" val="2996300429"/>
                    </a:ext>
                  </a:extLst>
                </a:gridCol>
                <a:gridCol w="1632258">
                  <a:extLst>
                    <a:ext uri="{9D8B030D-6E8A-4147-A177-3AD203B41FA5}">
                      <a16:colId xmlns:a16="http://schemas.microsoft.com/office/drawing/2014/main" val="3175425484"/>
                    </a:ext>
                  </a:extLst>
                </a:gridCol>
                <a:gridCol w="2713993">
                  <a:extLst>
                    <a:ext uri="{9D8B030D-6E8A-4147-A177-3AD203B41FA5}">
                      <a16:colId xmlns:a16="http://schemas.microsoft.com/office/drawing/2014/main" val="2515052845"/>
                    </a:ext>
                  </a:extLst>
                </a:gridCol>
              </a:tblGrid>
              <a:tr h="902323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of The Paper &amp; 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Authors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</a:t>
                      </a:r>
                    </a:p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&amp; </a:t>
                      </a:r>
                    </a:p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Datasets 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Observed </a:t>
                      </a:r>
                    </a:p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Shortcomings/</a:t>
                      </a:r>
                    </a:p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Gaps in The Paper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2781887"/>
                  </a:ext>
                </a:extLst>
              </a:tr>
              <a:tr h="114294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Stylometry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Recognizes Human and LLM-Generated Texts (2025)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K.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Przystalski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J.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Argasiński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97+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stylometric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features + RF/SVM/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XGBoost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/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Accuracy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Essays, Wikipedia (13K texts)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Only 10-sentence short texts (not full resumes)  Wikipedia domain specific   No template detection No weak supervision Assumes text authenticity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616627"/>
                  </a:ext>
                </a:extLst>
              </a:tr>
              <a:tr h="173346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Detection of AI-Generated Texts: Bi-LSTM + Attention (2025)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J. Blake et al.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Bi-LSTM +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Attention+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CNN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feature extraction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Mixed AI texts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Essay-length texts only (not resumes)  No template/structural analysis  Generic architecture (domain-agnostic)  No cost-efficient labeling  Limited to academic papers  Poor performance on short texts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86995" marB="86995" anchor="ctr"/>
                </a:tc>
                <a:extLst>
                  <a:ext uri="{0D108BD9-81ED-4DB2-BD59-A6C34878D82A}">
                    <a16:rowId xmlns:a16="http://schemas.microsoft.com/office/drawing/2014/main" val="44604226"/>
                  </a:ext>
                </a:extLst>
              </a:tr>
              <a:tr h="121452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 Feature-Embedding Models (2025)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ACL Authors</a:t>
                      </a:r>
                      <a:endParaRPr lang="da-DK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Stylometry+BERT+XGBoost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/Accuracy,F1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Academic papers (50K docs)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Academic papers only (different structure than resumes)  No weak supervision No template clustering  Trade-off: lower peak performance for robustness 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7353030"/>
                  </a:ext>
                </a:extLst>
              </a:tr>
              <a:tr h="61547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042710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26AD71-B8B1-DDD6-FF22-972ECF391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3"/>
            <a:ext cx="4114800" cy="247648"/>
          </a:xfrm>
        </p:spPr>
        <p:txBody>
          <a:bodyPr/>
          <a:lstStyle/>
          <a:p>
            <a:r>
              <a:rPr lang="en-IN" dirty="0">
                <a:solidFill>
                  <a:prstClr val="black">
                    <a:tint val="75000"/>
                  </a:prstClr>
                </a:solidFill>
              </a:rPr>
              <a:t>GR24D5049 – DISSERTATION PHASE-I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DA3BEF-9258-EBAC-26C0-D547505A9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C9E62-C7AE-451B-B578-5F9B605DF0C4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6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0751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7DC5C30E-F05B-8917-A6E7-766D56BC6B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1012728"/>
              </p:ext>
            </p:extLst>
          </p:nvPr>
        </p:nvGraphicFramePr>
        <p:xfrm>
          <a:off x="134756" y="991407"/>
          <a:ext cx="11925701" cy="55086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3803">
                  <a:extLst>
                    <a:ext uri="{9D8B030D-6E8A-4147-A177-3AD203B41FA5}">
                      <a16:colId xmlns:a16="http://schemas.microsoft.com/office/drawing/2014/main" val="446813659"/>
                    </a:ext>
                  </a:extLst>
                </a:gridCol>
                <a:gridCol w="2744217">
                  <a:extLst>
                    <a:ext uri="{9D8B030D-6E8A-4147-A177-3AD203B41FA5}">
                      <a16:colId xmlns:a16="http://schemas.microsoft.com/office/drawing/2014/main" val="3367767716"/>
                    </a:ext>
                  </a:extLst>
                </a:gridCol>
                <a:gridCol w="1503135">
                  <a:extLst>
                    <a:ext uri="{9D8B030D-6E8A-4147-A177-3AD203B41FA5}">
                      <a16:colId xmlns:a16="http://schemas.microsoft.com/office/drawing/2014/main" val="2709704396"/>
                    </a:ext>
                  </a:extLst>
                </a:gridCol>
                <a:gridCol w="1925504">
                  <a:extLst>
                    <a:ext uri="{9D8B030D-6E8A-4147-A177-3AD203B41FA5}">
                      <a16:colId xmlns:a16="http://schemas.microsoft.com/office/drawing/2014/main" val="556649545"/>
                    </a:ext>
                  </a:extLst>
                </a:gridCol>
                <a:gridCol w="1614939">
                  <a:extLst>
                    <a:ext uri="{9D8B030D-6E8A-4147-A177-3AD203B41FA5}">
                      <a16:colId xmlns:a16="http://schemas.microsoft.com/office/drawing/2014/main" val="2579042164"/>
                    </a:ext>
                  </a:extLst>
                </a:gridCol>
                <a:gridCol w="3354103">
                  <a:extLst>
                    <a:ext uri="{9D8B030D-6E8A-4147-A177-3AD203B41FA5}">
                      <a16:colId xmlns:a16="http://schemas.microsoft.com/office/drawing/2014/main" val="2457178009"/>
                    </a:ext>
                  </a:extLst>
                </a:gridCol>
              </a:tblGrid>
              <a:tr h="1285766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of The Paper &amp; 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Authors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</a:t>
                      </a:r>
                    </a:p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&amp; </a:t>
                      </a:r>
                    </a:p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Datasets 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Observed </a:t>
                      </a:r>
                    </a:p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Shortcomings/</a:t>
                      </a:r>
                    </a:p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Gaps in The Paper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5570892"/>
                  </a:ext>
                </a:extLst>
              </a:tr>
              <a:tr h="88830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AI-Generated Text Detector for Essays (2025)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IEEE Authors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RoBERTa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transformers/Superior</a:t>
                      </a: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essay detection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English essays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Essays only- No resumes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089359251"/>
                  </a:ext>
                </a:extLst>
              </a:tr>
              <a:tr h="71064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AI-Driven Resume Profiling (2024)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SEEJPH Conference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NER+TF-IDF/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Parsing,Accuracy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Role-labeled 8K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ASSUMES resumes genuine/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Job matching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only,nosupervision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568259056"/>
                  </a:ext>
                </a:extLst>
              </a:tr>
              <a:tr h="95566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Automated Resume Parsing &amp; Ranking (2024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K.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Thangaramya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G.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Logeswari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spaCy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NER + ML/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Metric:Accuracy</a:t>
                      </a:r>
                      <a:r>
                        <a:rPr lang="en-US" sz="14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,parsing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spaCy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NER + ML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ASSUMES resumes genuine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4817217"/>
                  </a:ext>
                </a:extLst>
              </a:tr>
              <a:tr h="166830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Resume Classification using NLP (2022)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spc="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I. Ali et al.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86995" marB="8699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NLP + SVM/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RF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metrics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Multiclass</a:t>
                      </a:r>
                      <a:r>
                        <a:rPr lang="en-US" sz="14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classification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962 resumes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SMALL dataset (962 samples - insufficient for AI detection)  Job category focus (NOT authenticity)  Zero AI detection mechanism  Cannot identify generated content  No template analysis No weak supervision approach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86995" marB="86995" anchor="ctr"/>
                </a:tc>
                <a:extLst>
                  <a:ext uri="{0D108BD9-81ED-4DB2-BD59-A6C34878D82A}">
                    <a16:rowId xmlns:a16="http://schemas.microsoft.com/office/drawing/2014/main" val="107647255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F6ACDB-882B-986D-6A68-C20474FE8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99827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prstClr val="black">
                    <a:tint val="75000"/>
                  </a:prstClr>
                </a:solidFill>
              </a:rPr>
              <a:t>GR24D5049 – DISSERTATION PHASE-I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5BAE3B-EB3C-5557-6A96-3D3144311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C9E62-C7AE-451B-B578-5F9B605DF0C4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C0FBDAD-8BC2-78A0-E89D-416B2D6C3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201" y="194274"/>
            <a:ext cx="10515600" cy="444498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</a:t>
            </a:r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Survey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495327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21AE23D-4631-72A6-D85E-D365D5D505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9822963"/>
              </p:ext>
            </p:extLst>
          </p:nvPr>
        </p:nvGraphicFramePr>
        <p:xfrm>
          <a:off x="202132" y="885525"/>
          <a:ext cx="11790948" cy="56813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4569">
                  <a:extLst>
                    <a:ext uri="{9D8B030D-6E8A-4147-A177-3AD203B41FA5}">
                      <a16:colId xmlns:a16="http://schemas.microsoft.com/office/drawing/2014/main" val="683257537"/>
                    </a:ext>
                  </a:extLst>
                </a:gridCol>
                <a:gridCol w="2726656">
                  <a:extLst>
                    <a:ext uri="{9D8B030D-6E8A-4147-A177-3AD203B41FA5}">
                      <a16:colId xmlns:a16="http://schemas.microsoft.com/office/drawing/2014/main" val="3386276002"/>
                    </a:ext>
                  </a:extLst>
                </a:gridCol>
                <a:gridCol w="1096190">
                  <a:extLst>
                    <a:ext uri="{9D8B030D-6E8A-4147-A177-3AD203B41FA5}">
                      <a16:colId xmlns:a16="http://schemas.microsoft.com/office/drawing/2014/main" val="3616138370"/>
                    </a:ext>
                  </a:extLst>
                </a:gridCol>
                <a:gridCol w="2050869">
                  <a:extLst>
                    <a:ext uri="{9D8B030D-6E8A-4147-A177-3AD203B41FA5}">
                      <a16:colId xmlns:a16="http://schemas.microsoft.com/office/drawing/2014/main" val="1052464726"/>
                    </a:ext>
                  </a:extLst>
                </a:gridCol>
                <a:gridCol w="1504427">
                  <a:extLst>
                    <a:ext uri="{9D8B030D-6E8A-4147-A177-3AD203B41FA5}">
                      <a16:colId xmlns:a16="http://schemas.microsoft.com/office/drawing/2014/main" val="311506276"/>
                    </a:ext>
                  </a:extLst>
                </a:gridCol>
                <a:gridCol w="3648237">
                  <a:extLst>
                    <a:ext uri="{9D8B030D-6E8A-4147-A177-3AD203B41FA5}">
                      <a16:colId xmlns:a16="http://schemas.microsoft.com/office/drawing/2014/main" val="2112772729"/>
                    </a:ext>
                  </a:extLst>
                </a:gridCol>
              </a:tblGrid>
              <a:tr h="1031734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of The Paper &amp; 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Authors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</a:t>
                      </a:r>
                    </a:p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&amp; </a:t>
                      </a:r>
                    </a:p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Datasets 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Observed </a:t>
                      </a:r>
                    </a:p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Shortcomings/</a:t>
                      </a:r>
                    </a:p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Gaps in The Paper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5849336"/>
                  </a:ext>
                </a:extLst>
              </a:tr>
              <a:tr h="99853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Automated Resume Parsing Using NER (2024)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K.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Thangaramya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et al.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spaCy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NER\Metrics</a:t>
                      </a:r>
                      <a:r>
                        <a:rPr lang="en-US" sz="14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accuracy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Naukri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/LinkedIn (10K)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Parsing only- No AI check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27532485"/>
                  </a:ext>
                </a:extLst>
              </a:tr>
              <a:tr h="129663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AI Resume Analyzer Digital Competence (2023)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Ibrahim M. Nasser,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Amjad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H. Ashraf Y</a:t>
                      </a:r>
                      <a:endParaRPr lang="da-DK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Rule-based+ML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Metrics:Accuracy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Digital skill resumes (4K)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Skill analysis only (NOT authenticity) No AI/template detection  Cannot detect false claims or AI-generated claims Domain-specific to tech  Assumes all skills are genuine  No mechanism to flag suspicious resumes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9123597"/>
                  </a:ext>
                </a:extLst>
              </a:tr>
              <a:tr h="129663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StyloAI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AI Content Detection with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Stylometry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(2023)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arXiv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Authors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stylometric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features+RF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Metrics:Accuracy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AuTextification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dataset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Multi-domain generalization (not optimized for ANY domain) Resume-domain GAP: general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stylometry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lacks resume-specific markers NO template detection  Only human vs AI (binary, not 4-class)  No weak supervision 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3670510"/>
                  </a:ext>
                </a:extLst>
              </a:tr>
              <a:tr h="105778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Weakly Supervised Learning KG (2023)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SSRN Authors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Knowledge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graph+weak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Improved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classification without full labeling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Conversational text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Conversational text focus (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chatbot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/dialogue data) NOT resume-specific Generic weak rules (not adapted for resumes) No template clustering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2257432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7982AC-83A2-91E3-7A9F-BD7211D6C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solidFill>
                  <a:prstClr val="black">
                    <a:tint val="75000"/>
                  </a:prstClr>
                </a:solidFill>
              </a:rPr>
              <a:t>GR24D5049 – DISSERTATION PHASE-I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C3850B-6DE3-6829-44E2-2BD12C018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C9E62-C7AE-451B-B578-5F9B605DF0C4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D60F87D-7EF0-19C6-5A76-822D5C068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136523"/>
            <a:ext cx="10515600" cy="444498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</a:t>
            </a:r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Survey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712539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630C605-14A4-5A9A-B865-6463EE32FD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798998"/>
              </p:ext>
            </p:extLst>
          </p:nvPr>
        </p:nvGraphicFramePr>
        <p:xfrm>
          <a:off x="202129" y="878660"/>
          <a:ext cx="11800573" cy="54435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1489">
                  <a:extLst>
                    <a:ext uri="{9D8B030D-6E8A-4147-A177-3AD203B41FA5}">
                      <a16:colId xmlns:a16="http://schemas.microsoft.com/office/drawing/2014/main" val="3182837619"/>
                    </a:ext>
                  </a:extLst>
                </a:gridCol>
                <a:gridCol w="1737176">
                  <a:extLst>
                    <a:ext uri="{9D8B030D-6E8A-4147-A177-3AD203B41FA5}">
                      <a16:colId xmlns:a16="http://schemas.microsoft.com/office/drawing/2014/main" val="1742291006"/>
                    </a:ext>
                  </a:extLst>
                </a:gridCol>
                <a:gridCol w="1893801">
                  <a:extLst>
                    <a:ext uri="{9D8B030D-6E8A-4147-A177-3AD203B41FA5}">
                      <a16:colId xmlns:a16="http://schemas.microsoft.com/office/drawing/2014/main" val="2771472713"/>
                    </a:ext>
                  </a:extLst>
                </a:gridCol>
                <a:gridCol w="2084134">
                  <a:extLst>
                    <a:ext uri="{9D8B030D-6E8A-4147-A177-3AD203B41FA5}">
                      <a16:colId xmlns:a16="http://schemas.microsoft.com/office/drawing/2014/main" val="2457483185"/>
                    </a:ext>
                  </a:extLst>
                </a:gridCol>
                <a:gridCol w="1969935">
                  <a:extLst>
                    <a:ext uri="{9D8B030D-6E8A-4147-A177-3AD203B41FA5}">
                      <a16:colId xmlns:a16="http://schemas.microsoft.com/office/drawing/2014/main" val="306878581"/>
                    </a:ext>
                  </a:extLst>
                </a:gridCol>
                <a:gridCol w="3464038">
                  <a:extLst>
                    <a:ext uri="{9D8B030D-6E8A-4147-A177-3AD203B41FA5}">
                      <a16:colId xmlns:a16="http://schemas.microsoft.com/office/drawing/2014/main" val="266125062"/>
                    </a:ext>
                  </a:extLst>
                </a:gridCol>
              </a:tblGrid>
              <a:tr h="94926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of The Paper &amp; Year</a:t>
                      </a: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Authors</a:t>
                      </a: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</a:t>
                      </a:r>
                    </a:p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&amp; </a:t>
                      </a:r>
                    </a:p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Metrics</a:t>
                      </a: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Datasets Used</a:t>
                      </a: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Observed </a:t>
                      </a:r>
                    </a:p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Shortcomings/</a:t>
                      </a:r>
                    </a:p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Gaps in The Paper</a:t>
                      </a:r>
                    </a:p>
                  </a:txBody>
                  <a:tcPr marT="34350" marB="34350" anchor="ctr"/>
                </a:tc>
                <a:extLst>
                  <a:ext uri="{0D108BD9-81ED-4DB2-BD59-A6C34878D82A}">
                    <a16:rowId xmlns:a16="http://schemas.microsoft.com/office/drawing/2014/main" val="2329049061"/>
                  </a:ext>
                </a:extLst>
              </a:tr>
              <a:tr h="134360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AI-Based Resume Screening System (2023)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SVM, Naive Bayes, Random 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SVM, Naive Bayes, Random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57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2K resumes+200 jobs</a:t>
                      </a:r>
                    </a:p>
                  </a:txBody>
                  <a:tcPr marL="7620" marR="7620" marT="5725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Screening focus ONLY (matching, not authenticity) ✗ Assumes ALL resumes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GENUINE✗No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mechanism to flag suspicious resumes Uses standard supervision approach NO template detection Cannot identify AI-generated content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34350" marB="34350" anchor="ctr"/>
                </a:tc>
                <a:extLst>
                  <a:ext uri="{0D108BD9-81ED-4DB2-BD59-A6C34878D82A}">
                    <a16:rowId xmlns:a16="http://schemas.microsoft.com/office/drawing/2014/main" val="2538417156"/>
                  </a:ext>
                </a:extLst>
              </a:tr>
              <a:tr h="1665191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Contextualized Weak Supervision (2020)</a:t>
                      </a:r>
                    </a:p>
                  </a:txBody>
                  <a:tcPr marL="7620" marR="7620" marT="5725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Minh Vo et al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Weak rules + Contrastive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;Metrics:F1 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NLP benchmarks</a:t>
                      </a:r>
                    </a:p>
                  </a:txBody>
                  <a:tcPr marL="7620" marR="7620" marT="5725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Rules NOT adapted for professional documents  NO resume-domain expertise  No authenticity focus (AI detection)  No template awareness Cannot apply weak rules to resume validation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; 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 marT="34350" marB="34350" anchor="ctr"/>
                </a:tc>
                <a:extLst>
                  <a:ext uri="{0D108BD9-81ED-4DB2-BD59-A6C34878D82A}">
                    <a16:rowId xmlns:a16="http://schemas.microsoft.com/office/drawing/2014/main" val="2303569280"/>
                  </a:ext>
                </a:extLst>
              </a:tr>
              <a:tr h="148021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Fake Job Prediction using Sequential Network (2020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D.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Ranparia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S.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Kumari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A.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Sahani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GloVe</a:t>
                      </a:r>
                      <a:r>
                        <a:rPr lang="en-US" sz="14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word </a:t>
                      </a:r>
                      <a:r>
                        <a:rPr lang="en-US" sz="1400" b="1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embeddings</a:t>
                      </a:r>
                      <a:r>
                        <a:rPr lang="en-US" sz="14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+ Sequential NN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metrics :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Accuracy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EMSCAD (from citation). Investigating_Fake_Job_Descriptions_with_TF-IDF_and_Word_Embeddings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Pre‑BERT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embeddings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GloVe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only, monolingual); no CNN/image; English‑only; no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IndicBERT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; 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 marT="34350" marB="34350" anchor="ctr"/>
                </a:tc>
                <a:extLst>
                  <a:ext uri="{0D108BD9-81ED-4DB2-BD59-A6C34878D82A}">
                    <a16:rowId xmlns:a16="http://schemas.microsoft.com/office/drawing/2014/main" val="3028898114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EC9A7F-C3F8-650B-E76C-B7DF8C49B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solidFill>
                  <a:prstClr val="black">
                    <a:tint val="75000"/>
                  </a:prstClr>
                </a:solidFill>
              </a:rPr>
              <a:t>GR24D5049 – DISSERTATION PHASE-I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27E69A-3BF9-0820-10D3-90EDF70E4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C9E62-C7AE-451B-B578-5F9B605DF0C4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D1385D1-72D9-1CEC-DD92-2966AFF5B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136523"/>
            <a:ext cx="10515600" cy="444498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</a:t>
            </a:r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Survey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120899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3051" y="2709082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solidFill>
                  <a:prstClr val="black">
                    <a:tint val="75000"/>
                  </a:prstClr>
                </a:solidFill>
              </a:rPr>
              <a:t>GR24D5049 – DISSERTATION PHASE-I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C9E62-C7AE-451B-B578-5F9B605DF0C4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204348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720</TotalTime>
  <Words>1212</Words>
  <Application>Microsoft Office PowerPoint</Application>
  <PresentationFormat>Widescreen</PresentationFormat>
  <Paragraphs>194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Wingdings</vt:lpstr>
      <vt:lpstr>1_Office Theme</vt:lpstr>
      <vt:lpstr>2_Office Theme</vt:lpstr>
      <vt:lpstr>Detecting AI-Generated and Template-Based Resumes Using Weakly Supervised Hybrid Learning</vt:lpstr>
      <vt:lpstr>Contents</vt:lpstr>
      <vt:lpstr>Objective</vt:lpstr>
      <vt:lpstr>Abstract </vt:lpstr>
      <vt:lpstr>Scope of the Implementation</vt:lpstr>
      <vt:lpstr>Literature Survey</vt:lpstr>
      <vt:lpstr>Literature Survey</vt:lpstr>
      <vt:lpstr>Literature Survey</vt:lpstr>
      <vt:lpstr>Literature Survey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THE PROJECT</dc:title>
  <dc:creator>hp</dc:creator>
  <cp:lastModifiedBy>MAHARAJ NAGASHUSHMA</cp:lastModifiedBy>
  <cp:revision>51</cp:revision>
  <dcterms:created xsi:type="dcterms:W3CDTF">2024-04-18T04:00:33Z</dcterms:created>
  <dcterms:modified xsi:type="dcterms:W3CDTF">2026-01-06T14:13:19Z</dcterms:modified>
</cp:coreProperties>
</file>